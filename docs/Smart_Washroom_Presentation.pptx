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B2E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WASHROOM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 Monitoring &amp; Automatic Disinfection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7D9D6"/>
                </a:solidFill>
              </a:rPr>
              <a:t>ESP32  •  Dual Occupancy Sensing  •  Virtual Sensing  •  Streamlit Dashboard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5B2"/>
                </a:solidFill>
              </a:rPr>
              <a:t>Project Overview  —  Revision 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3441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2E"/>
                </a:solidFill>
              </a:rPr>
              <a:t>Odor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8"/>
                </a:solidFill>
              </a:rPr>
              <a:t>Poor ventilation and delayed cleaning leave lingering bad odor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877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2E"/>
                </a:solidFill>
              </a:rPr>
              <a:t>Blind Spot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290779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8"/>
                </a:solidFill>
              </a:rPr>
              <a:t>No one knows water or disinfectant levels until they run out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75818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3685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2E"/>
                </a:solidFill>
              </a:rPr>
              <a:t>Manual Inspection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4078224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8"/>
                </a:solidFill>
              </a:rPr>
              <a:t>Staff must physically check each washroom repeatedly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92861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28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48554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2E"/>
                </a:solidFill>
              </a:rPr>
              <a:t>Expensive Retrofits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5248656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8"/>
                </a:solidFill>
              </a:rPr>
              <a:t>Existing smart-toilet systems need full reconstruction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89520" y="137160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F4F9F8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29260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B2B2E"/>
                </a:solidFill>
              </a:rPr>
              <a:t>Public washrooms in India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B2B2E"/>
                </a:solidFill>
              </a:rPr>
              <a:t>need a low-cost box that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B2B2E"/>
                </a:solidFill>
              </a:rPr>
              <a:t>retrofits into an EXISTING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B2B2E"/>
                </a:solidFill>
              </a:rPr>
              <a:t>washroom — no rebuilding,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B2B2E"/>
                </a:solidFill>
              </a:rPr>
              <a:t>no distributed sensor network.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8"/>
                </a:solidFill>
              </a:rPr>
              <a:t>A single retrofit “Smart Hygiene Box” — one ESP32, a handful of sensors, two actuators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591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SENSORS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LD2410 + IR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MQ135 • HC-SR04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94760" y="219456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0B2B2E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23591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ESP32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94760" y="2743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Decision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Logic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219456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3591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ACTUATORS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743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Mist pump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Refill pump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63240" y="2798064"/>
            <a:ext cx="640080" cy="164592"/>
          </a:xfrm>
          <a:prstGeom prst="rightArrow">
            <a:avLst/>
          </a:prstGeom>
          <a:solidFill>
            <a:srgbClr val="5C7A78"/>
          </a:solidFill>
          <a:ln/>
        </p:spPr>
      </p:sp>
      <p:sp>
        <p:nvSpPr>
          <p:cNvPr id="14" name="Shape 12"/>
          <p:cNvSpPr/>
          <p:nvPr/>
        </p:nvSpPr>
        <p:spPr>
          <a:xfrm>
            <a:off x="6080760" y="2798064"/>
            <a:ext cx="594360" cy="164592"/>
          </a:xfrm>
          <a:prstGeom prst="rightArrow">
            <a:avLst/>
          </a:prstGeom>
          <a:solidFill>
            <a:srgbClr val="5C7A78"/>
          </a:solidFill>
          <a:ln/>
        </p:spPr>
      </p:sp>
      <p:sp>
        <p:nvSpPr>
          <p:cNvPr id="15" name="Shape 13"/>
          <p:cNvSpPr/>
          <p:nvPr/>
        </p:nvSpPr>
        <p:spPr>
          <a:xfrm>
            <a:off x="3794760" y="397764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8F5F3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4114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E"/>
                </a:solidFill>
              </a:rPr>
              <a:t>Streamlit Dashboard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4434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</a:rPr>
              <a:t>Live status now — physical OLED display deferred to Phase 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3566160"/>
            <a:ext cx="0" cy="320040"/>
          </a:xfrm>
          <a:prstGeom prst="line">
            <a:avLst/>
          </a:prstGeom>
          <a:noFill/>
          <a:ln w="19050">
            <a:solidFill>
              <a:srgbClr val="5C7A7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8640" y="534924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FFF4E5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34924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5700"/>
                </a:solidFill>
              </a:rPr>
              <a:t>Key safety rule: the system NEVER fires the mist pump while either occupancy sensor shows the washroom is in use — corrected during design review.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4F9F8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E"/>
                </a:solidFill>
              </a:rPr>
              <a:t>ESP32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8"/>
                </a:solidFill>
              </a:rPr>
              <a:t>Main controller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137160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4F9F8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0" y="16002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297680" y="2240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E"/>
                </a:solidFill>
              </a:rPr>
              <a:t>LD2410 + IR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8"/>
                </a:solidFill>
              </a:rPr>
              <a:t>Dual occupancy sensing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0" y="137160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4F9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818120" y="16002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78181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818120" y="2240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E"/>
                </a:solidFill>
              </a:rPr>
              <a:t>MQ135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1812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8"/>
                </a:solidFill>
              </a:rPr>
              <a:t>Air quality / odor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4F9F8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3832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77240" y="4023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E"/>
                </a:solidFill>
              </a:rPr>
              <a:t>HC-SR04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343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8"/>
                </a:solidFill>
              </a:rPr>
              <a:t>Water tank level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069080" y="315468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4F9F8"/>
          </a:solidFill>
          <a:ln/>
        </p:spPr>
      </p:sp>
      <p:sp>
        <p:nvSpPr>
          <p:cNvPr id="24" name="Shape 22"/>
          <p:cNvSpPr/>
          <p:nvPr/>
        </p:nvSpPr>
        <p:spPr>
          <a:xfrm>
            <a:off x="4297680" y="33832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42976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297680" y="4023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E"/>
                </a:solidFill>
              </a:rPr>
              <a:t>4-Ch Relay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97680" y="4343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8"/>
                </a:solidFill>
              </a:rPr>
              <a:t>CH1 mist · CH2 refill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89520" y="315468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4F9F8"/>
          </a:solidFill>
          <a:ln/>
        </p:spPr>
      </p:sp>
      <p:sp>
        <p:nvSpPr>
          <p:cNvPr id="29" name="Shape 27"/>
          <p:cNvSpPr/>
          <p:nvPr/>
        </p:nvSpPr>
        <p:spPr>
          <a:xfrm>
            <a:off x="7818120" y="33832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781812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818120" y="4023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E"/>
                </a:solidFill>
              </a:rPr>
              <a:t>2 × 12V Pumps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818120" y="4343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8"/>
                </a:solidFill>
              </a:rPr>
              <a:t>Spray + auto-refill (2nd pump was previously idle)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78"/>
                </a:solidFill>
              </a:rPr>
              <a:t>Estimated cost: ≈ ₹2,300–2,600  (both pumps were already owned — lower than the original estimate)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Review Caught a Real Safety Gap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DEDE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</a:rPr>
              <a:t>BEFORE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B2E"/>
                </a:solidFill>
              </a:rPr>
              <a:t>Trigger: gas level &gt; 250 ppm,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B2E"/>
                </a:solidFill>
              </a:rPr>
              <a:t>OR 4 hours since last spray.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2B21"/>
                </a:solidFill>
              </a:rPr>
              <a:t>Occupancy was never checked —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22B21"/>
                </a:solidFill>
              </a:rPr>
              <a:t>the mist pump could fire while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22B21"/>
                </a:solidFill>
              </a:rPr>
              <a:t>someone was still inside.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E8F8F0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449"/>
                </a:solidFill>
              </a:rPr>
              <a:t>AFTER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057400"/>
            <a:ext cx="320040" cy="320040"/>
          </a:xfrm>
          <a:prstGeom prst="rect">
            <a:avLst/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95160" y="20299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2E"/>
                </a:solidFill>
              </a:rPr>
              <a:t>Either sensor “occupied” → never spray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2624328"/>
            <a:ext cx="320040" cy="320040"/>
          </a:xfrm>
          <a:prstGeom prst="rect">
            <a:avLst/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95160" y="25968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2E"/>
                </a:solidFill>
              </a:rPr>
              <a:t>Occupied → Vacant → baseline spray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3191256"/>
            <a:ext cx="320040" cy="320040"/>
          </a:xfrm>
          <a:prstGeom prst="rect">
            <a:avLst/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95160" y="316382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2E"/>
                </a:solidFill>
              </a:rPr>
              <a:t>Still bad air, still vacant → up to 2 extra sprays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3758184"/>
            <a:ext cx="320040" cy="320040"/>
          </a:xfrm>
          <a:prstGeom prst="rect">
            <a:avLst/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95160" y="373075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2E"/>
                </a:solidFill>
              </a:rPr>
              <a:t>Cap reached, still bad → stop + flag for manual checkup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4325112"/>
            <a:ext cx="320040" cy="320040"/>
          </a:xfrm>
          <a:prstGeom prst="rect">
            <a:avLst/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95160" y="4297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2E"/>
                </a:solidFill>
              </a:rPr>
              <a:t>4h+ idle, vacant → one refresh spray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Sensing — The Core Contribution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D9D6"/>
                </a:solidFill>
              </a:rPr>
              <a:t>There is no physical level sensor on the disinfectant tank — only the water tank has one (HC-SR04)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108960" cy="2194560"/>
          </a:xfrm>
          <a:prstGeom prst="roundRect">
            <a:avLst>
              <a:gd name="adj" fmla="val 3333"/>
            </a:avLst>
          </a:prstGeom>
          <a:solidFill>
            <a:srgbClr val="0F3A3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Indirect signals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Spray count • timing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Entries • usage history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94760" y="3209544"/>
            <a:ext cx="548640" cy="164592"/>
          </a:xfrm>
          <a:prstGeom prst="rightArrow">
            <a:avLst/>
          </a:prstGeom>
          <a:solidFill>
            <a:srgbClr val="5C7A78"/>
          </a:solidFill>
          <a:ln/>
        </p:spPr>
      </p:sp>
      <p:sp>
        <p:nvSpPr>
          <p:cNvPr id="8" name="Shape 6"/>
          <p:cNvSpPr/>
          <p:nvPr/>
        </p:nvSpPr>
        <p:spPr>
          <a:xfrm>
            <a:off x="4480560" y="2194560"/>
            <a:ext cx="3108960" cy="2194560"/>
          </a:xfrm>
          <a:prstGeom prst="roundRect">
            <a:avLst>
              <a:gd name="adj" fmla="val 3333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Trained 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28346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Random Forest 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Gradient Boosting,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vs. a naive counter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baseline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26680" y="3209544"/>
            <a:ext cx="548640" cy="164592"/>
          </a:xfrm>
          <a:prstGeom prst="rightArrow">
            <a:avLst/>
          </a:prstGeom>
          <a:solidFill>
            <a:srgbClr val="5C7A78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0" y="219456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641080" y="2377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E"/>
                </a:solidFill>
              </a:rPr>
              <a:t>Estimated level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41080" y="27889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2E"/>
                </a:solidFill>
              </a:rPr>
              <a:t>Drives the low-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2E"/>
                </a:solidFill>
              </a:rPr>
              <a:t>disinfectant alert 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2E"/>
                </a:solidFill>
              </a:rPr>
              <a:t>a real technical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2E"/>
                </a:solidFill>
              </a:rPr>
              <a:t>effect, not just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2E"/>
                </a:solidFill>
              </a:rPr>
              <a:t>a predicted number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48463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5ECEA"/>
                </a:solidFill>
              </a:rPr>
              <a:t>Why it matters: this framing — infer a quantity, then control a real alert/actuator — is what gives the ML work genuine paper and patent value, rather than “a box with sensors in it.”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Features — What's Really ML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2984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</a:rPr>
              <a:t>Anomaly Detection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6642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</a:rPr>
              <a:t>Isolation Forest on air-quality signal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418320" y="137160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5420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</a:rPr>
              <a:t>Virtual Sensing + Forecast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</a:rPr>
              <a:t>Regression model estimates disinfectant level &amp; time-to-refill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418320" y="2542032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712464"/>
            <a:ext cx="502920" cy="502920"/>
          </a:xfrm>
          <a:prstGeom prst="ellipse">
            <a:avLst/>
          </a:prstGeom>
          <a:solidFill>
            <a:srgbClr val="B0855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12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6393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</a:rPr>
              <a:t>Disinfection Control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400507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</a:rPr>
              <a:t>Deterministic, occupancy-gated rule — kept safety-critical, NOT a learned model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418320" y="3712464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B085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RULE-BASED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882896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48097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</a:rPr>
              <a:t>Usage Clustering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517550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8"/>
                </a:solidFill>
              </a:rPr>
              <a:t>K-Means across cubicles for traffic patterns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18320" y="4882896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Validation — Before / After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66344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Metric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0" y="1371600"/>
            <a:ext cx="283464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0" y="1371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Before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46720" y="1371600"/>
            <a:ext cx="283464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1371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After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4663440" cy="777240"/>
          </a:xfrm>
          <a:prstGeom prst="rect">
            <a:avLst/>
          </a:prstGeom>
          <a:solidFill>
            <a:srgbClr val="F4F9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1828800"/>
            <a:ext cx="2834640" cy="777240"/>
          </a:xfrm>
          <a:prstGeom prst="rect">
            <a:avLst/>
          </a:prstGeom>
          <a:solidFill>
            <a:srgbClr val="F4F9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1828800"/>
            <a:ext cx="2834640" cy="777240"/>
          </a:xfrm>
          <a:prstGeom prst="rect">
            <a:avLst/>
          </a:prstGeom>
          <a:solidFill>
            <a:srgbClr val="F4F9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E"/>
                </a:solidFill>
              </a:rPr>
              <a:t>Longest single spray event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8288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0392B"/>
                </a:solidFill>
              </a:rPr>
              <a:t>795 min (13+ hrs)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38160" y="18288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449"/>
                </a:solidFill>
              </a:rPr>
              <a:t>5 min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06040"/>
            <a:ext cx="4663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2606040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2606040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6060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E"/>
                </a:solidFill>
              </a:rPr>
              <a:t>Sprays while occupied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26060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0392B"/>
                </a:solidFill>
              </a:rPr>
              <a:t>not checked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138160" y="26060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449"/>
                </a:solidFill>
              </a:rPr>
              <a:t>0 (verified)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4663440" cy="777240"/>
          </a:xfrm>
          <a:prstGeom prst="rect">
            <a:avLst/>
          </a:prstGeom>
          <a:solidFill>
            <a:srgbClr val="F4F9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3383280"/>
            <a:ext cx="2834640" cy="777240"/>
          </a:xfrm>
          <a:prstGeom prst="rect">
            <a:avLst/>
          </a:prstGeom>
          <a:solidFill>
            <a:srgbClr val="F4F9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3383280"/>
            <a:ext cx="2834640" cy="777240"/>
          </a:xfrm>
          <a:prstGeom prst="rect">
            <a:avLst/>
          </a:prstGeom>
          <a:solidFill>
            <a:srgbClr val="F4F9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3832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E"/>
                </a:solidFill>
              </a:rPr>
              <a:t>hygiene_score “predictability” (R²)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33832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0392B"/>
                </a:solidFill>
              </a:rPr>
              <a:t>0.9997 (pure formula)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138160" y="33832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449"/>
                </a:solidFill>
              </a:rPr>
              <a:t>0.86 (real noise)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4663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4160520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0" y="4160520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160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E"/>
                </a:solidFill>
              </a:rPr>
              <a:t>Tank ever ran low?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41605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0392B"/>
                </a:solidFill>
              </a:rPr>
              <a:t>No — stayed 95–100%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8160" y="41605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449"/>
                </a:solidFill>
              </a:rPr>
              <a:t>Yes — realistic depletion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937760"/>
            <a:ext cx="4663440" cy="777240"/>
          </a:xfrm>
          <a:prstGeom prst="rect">
            <a:avLst/>
          </a:prstGeom>
          <a:solidFill>
            <a:srgbClr val="F4F9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12080" y="4937760"/>
            <a:ext cx="2834640" cy="777240"/>
          </a:xfrm>
          <a:prstGeom prst="rect">
            <a:avLst/>
          </a:prstGeom>
          <a:solidFill>
            <a:srgbClr val="F4F9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0" y="4937760"/>
            <a:ext cx="2834640" cy="777240"/>
          </a:xfrm>
          <a:prstGeom prst="rect">
            <a:avLst/>
          </a:prstGeom>
          <a:solidFill>
            <a:srgbClr val="F4F9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9377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E"/>
                </a:solidFill>
              </a:rPr>
              <a:t>Cubicles simulated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03520" y="49377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0392B"/>
                </a:solidFill>
              </a:rPr>
              <a:t>1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138160" y="49377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449"/>
                </a:solidFill>
              </a:rPr>
              <a:t>4, distinct traffic patterns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Dashboard — 3 Tabs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0B2B2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5204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Live Monitoring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5ECEA"/>
                </a:solidFill>
              </a:rPr>
              <a:t>Occupancy, air quality, tank levels, mist status, activity feed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0B2B2E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1463040"/>
            <a:ext cx="352044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463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Predictive Maintenance &amp; ML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219456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5ECEA"/>
                </a:solidFill>
              </a:rPr>
              <a:t>Disinfectant forecast, anomaly alerts, sensor-agreement panel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0B2B2E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0" y="1463040"/>
            <a:ext cx="352044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1463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Historical Analytics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75320" y="219456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5ECEA"/>
                </a:solidFill>
              </a:rPr>
              <a:t>Peak-hour heatmap, air-quality trends, resource consumption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78"/>
                </a:solidFill>
              </a:rPr>
              <a:t>Primary interface for now — OLED physical display is Phase 2 (an LED gives a simple interim Occupied/Vacant signal)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 &amp; Novelty Angle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4F9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E"/>
                </a:solidFill>
              </a:rPr>
              <a:t>Where things stand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B2E"/>
                </a:solidFill>
              </a:rPr>
              <a:t>• Hardware: partially built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B2E"/>
                </a:solidFill>
              </a:rPr>
              <a:t>• Data pipeline: validated on synthetic data (4 cubicles)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B2E"/>
                </a:solidFill>
              </a:rPr>
              <a:t>• Interface: Streamlit live, OLED deferred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B2E"/>
                </a:solidFill>
              </a:rPr>
              <a:t>• Team: hardware + this ML/DL/DS track + dashboard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0F3A3D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Novelty for paper / patent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0574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Not “a box that monitors a washroom” — that already exists (e.g. IPToilet®, patented, deployed in 15 states).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28803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</a:rPr>
              <a:t>The defensible claim: inferring an unmeasured consumable level from indirect signals, and using that to control a real actuator/alert — not just predicting a number.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397764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7D9D6"/>
                </a:solidFill>
              </a:rPr>
              <a:t>India's 2025 CRI guidelines: no working prototype is legally required to file — a sufficiently detailed, enabling description is what matters.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2026-08-25T03:12:53Z</dcterms:created>
  <dcterms:modified xsi:type="dcterms:W3CDTF">2026-08-25T03:12:53Z</dcterms:modified>
</cp:coreProperties>
</file>